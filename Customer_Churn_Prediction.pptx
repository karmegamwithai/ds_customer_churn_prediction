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F2A6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Retained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79.63</c:v>
                </c:pt>
                <c:pt idx="1">
                  <c:v>20.37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F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5B6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 (churn)</c:v>
                  </c:pt>
                  <c:pt idx="2">
                    <c:v>Recall (churn)</c:v>
                  </c:pt>
                  <c:pt idx="3">
                    <c:v>F1 (churn)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86.1</c:v>
                </c:pt>
                <c:pt idx="1">
                  <c:v>80</c:v>
                </c:pt>
                <c:pt idx="2">
                  <c:v>39</c:v>
                </c:pt>
                <c:pt idx="3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F2A6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 (churn)</c:v>
                  </c:pt>
                  <c:pt idx="2">
                    <c:v>Recall (churn)</c:v>
                  </c:pt>
                  <c:pt idx="3">
                    <c:v>F1 (churn)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86.8</c:v>
                </c:pt>
                <c:pt idx="1">
                  <c:v>82</c:v>
                </c:pt>
                <c:pt idx="2">
                  <c:v>41</c:v>
                </c:pt>
                <c:pt idx="3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1F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389120"/>
            <a:ext cx="2743200" cy="27432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demographic and financial signals to identify customers at risk of leaving the bank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4663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4904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tracked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4663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86.8%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6656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predicting churn matters for the bank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far more than retaining an existing one. By analyzing customer demographics and financial behavior, the bank can flag at-risk customers early and act before they leave.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256032" cy="25603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1272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drivers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4472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which customer attributes most strongly predict churn.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256032" cy="25603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9959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3159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 that flag customers likely to exit the bank.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83480"/>
            <a:ext cx="256032" cy="256032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8646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518464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bank a data-backed retention target list.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06640" y="155448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 (renamed Churn)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customer closed account   |   0 = customer retained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Features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34290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Gender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Tenure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Products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Credit Card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Active Member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Salary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Prediction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Customers Are Churning?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 across the 10,000-customer dataset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51206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69164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1965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 customers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92240" y="2560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bank during the period studied — a meaningful share of the customer base, and one the bank can work to reduce.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9224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20.37%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9224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86968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79.63%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8696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retained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92240" y="4800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imbalance is why model recall on churners matters as much as overall accuracy.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Prediction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Churning: Age &amp; Geography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customers and German customers churn at disproportionate rates</a:t>
            </a:r>
            <a:endParaRPr lang="en-US" sz="1400" dirty="0"/>
          </a:p>
        </p:txBody>
      </p:sp>
      <p:pic>
        <p:nvPicPr>
          <p:cNvPr id="4" name="Image 0" descr="/home/claude/imgs/img_36_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486400" cy="4160520"/>
          </a:xfrm>
          <a:prstGeom prst="rect">
            <a:avLst/>
          </a:prstGeom>
        </p:spPr>
      </p:pic>
      <p:pic>
        <p:nvPicPr>
          <p:cNvPr id="5" name="Image 1" descr="/home/claude/imgs/img_42_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600200"/>
            <a:ext cx="5394960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are 30-40 yrs old, but churn is highest for the 45-60 age band.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309360" y="5806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churns at a far higher rate than France or Spain, despite having fewer customers.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Prediction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Signals: Products &amp; Activity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count and active membership are strong churn signals</a:t>
            </a:r>
            <a:endParaRPr lang="en-US" sz="1400" dirty="0"/>
          </a:p>
        </p:txBody>
      </p:sp>
      <p:pic>
        <p:nvPicPr>
          <p:cNvPr id="4" name="Image 0" descr="/home/claude/imgs/img_51_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486400" cy="4160520"/>
          </a:xfrm>
          <a:prstGeom prst="rect">
            <a:avLst/>
          </a:prstGeom>
        </p:spPr>
      </p:pic>
      <p:pic>
        <p:nvPicPr>
          <p:cNvPr id="5" name="Image 1" descr="/home/claude/imgs/img_57_1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600200"/>
            <a:ext cx="5394960" cy="4160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1 product churn far more than those with 2 — and 3-4 products churn almost entirely.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309360" y="58064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members churn at roughly double the rate of active members.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Prediction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Profile: Balance &amp; Credit Score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Zero-balance customers churn least; credit score shows little separation</a:t>
            </a:r>
            <a:endParaRPr lang="en-US" sz="1400" dirty="0"/>
          </a:p>
        </p:txBody>
      </p:sp>
      <p:pic>
        <p:nvPicPr>
          <p:cNvPr id="4" name="Image 0" descr="/home/claude/imgs/img_48_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486400" cy="4160520"/>
          </a:xfrm>
          <a:prstGeom prst="rect">
            <a:avLst/>
          </a:prstGeom>
        </p:spPr>
      </p:pic>
      <p:pic>
        <p:nvPicPr>
          <p:cNvPr id="5" name="Image 1" descr="/home/claude/imgs/img_39_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965960"/>
            <a:ext cx="5486400" cy="3429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holding 100K-150K in balance are more likely to churn than those near zero balance.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26364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distributions for churned vs retained customers largely overlap — a weak standalone predictor.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Prediction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Prediction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clean data to tuned classifiers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141B4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IDs, encoded categoricals, normalized numeric features, checked for nulls and duplicates.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8745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141B47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0" y="219456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33375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train-test split to evaluate models on unseen customers.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18745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141B47"/>
          </a:solidFill>
          <a:ln/>
        </p:spPr>
      </p:sp>
      <p:sp>
        <p:nvSpPr>
          <p:cNvPr id="16" name="Shape 14"/>
          <p:cNvSpPr/>
          <p:nvPr/>
        </p:nvSpPr>
        <p:spPr>
          <a:xfrm>
            <a:off x="6675120" y="219456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33375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used to find the best hyperparameters for each model.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0" y="18745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141B47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0" y="219456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0" y="33375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and Random Forest classifiers evaluated head-to-head.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Prediction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Performance: Decision Tree vs Random Forest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edges out Decision Tree on every key metric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Prediction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Forest: Where It Gets It Right (and Wrong)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on the 3,000-customer test set</a:t>
            </a:r>
            <a:endParaRPr lang="en-US" sz="1400" dirty="0"/>
          </a:p>
        </p:txBody>
      </p:sp>
      <p:pic>
        <p:nvPicPr>
          <p:cNvPr id="4" name="Image 0" descr="/home/claude/imgs/img_105_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512064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55448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2700000">
              <a:srgbClr val="1E2761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6656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2,363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0" y="1892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 correctly identified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66560" y="2697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0" y="27614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correctly caught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66560" y="3566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343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29600" y="36301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missed (false negatives)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0" y="4434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229600" y="4498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 wrongly flagged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6656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churners (41%) is the model's main weak point — the bank still misses more churners than it catches.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Prediction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products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status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membership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141B47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model: Random Forest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0" y="2148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were hyperparameter-tuned with GridSearchCV and perform similarly, but Random Forest delivers better accuracy and precision than the Decision Tree — making it the stronger choice for flagging at-risk customers.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7512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86.8%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77824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target outreach to customers with low product counts, low activity, and high balances in Germany and the 45-60 age band.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 Churn Prediction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Churn Prediction</dc:title>
  <dc:subject>PptxGenJS Presentation</dc:subject>
  <dc:creator>Churn Analytics</dc:creator>
  <cp:lastModifiedBy>Churn Analytics</cp:lastModifiedBy>
  <cp:revision>1</cp:revision>
  <dcterms:created xsi:type="dcterms:W3CDTF">2026-06-20T05:41:24Z</dcterms:created>
  <dcterms:modified xsi:type="dcterms:W3CDTF">2026-06-20T05:41:24Z</dcterms:modified>
</cp:coreProperties>
</file>